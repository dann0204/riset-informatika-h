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embeddedFontLst>
    <p:embeddedFont>
      <p:font typeface="Inter" panose="020B0604020202020204" charset="0"/>
      <p:regular r:id="rId12"/>
      <p:bold r:id="rId13"/>
      <p:italic r:id="rId14"/>
      <p:boldItalic r:id="rId15"/>
    </p:embeddedFont>
    <p:embeddedFont>
      <p:font typeface="Inter Medium" panose="020B0604020202020204" charset="0"/>
      <p:regular r:id="rId16"/>
      <p:bold r:id="rId17"/>
      <p:italic r:id="rId18"/>
      <p:boldItalic r:id="rId19"/>
    </p:embeddedFont>
    <p:embeddedFont>
      <p:font typeface="Inter SemiBold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F21F91D-76CB-45F9-96B6-36E9A6D0EBA8}">
  <a:tblStyle styleId="{4F21F91D-76CB-45F9-96B6-36E9A6D0EBA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0.png"/><Relationship Id="rId5" Type="http://schemas.openxmlformats.org/officeDocument/2006/relationships/image" Target="../media/image15.png"/><Relationship Id="rId10" Type="http://schemas.openxmlformats.org/officeDocument/2006/relationships/image" Target="../media/image19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81025" y="1498401"/>
            <a:ext cx="7620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800" dirty="0">
                <a:solidFill>
                  <a:srgbClr val="38BDF8"/>
                </a:solidFill>
                <a:latin typeface="Inter Medium"/>
                <a:ea typeface="Inter Medium"/>
                <a:sym typeface="Inter Medium"/>
              </a:rPr>
              <a:t>Riset Informatika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581025" y="2245072"/>
            <a:ext cx="7488319" cy="1658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8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Integrasi OWASP ZAP dan Gemini AI </a:t>
            </a:r>
            <a:r>
              <a:rPr lang="en-US" sz="2800" b="1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untuk</a:t>
            </a:r>
            <a:r>
              <a:rPr lang="en-US" sz="28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800" b="1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Otomatisasi</a:t>
            </a:r>
            <a:r>
              <a:rPr lang="en-US" sz="28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800" b="1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Analisis</a:t>
            </a:r>
            <a:r>
              <a:rPr lang="en-US" sz="28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800" b="1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Kerentanan</a:t>
            </a:r>
            <a:r>
              <a:rPr lang="en-US" sz="28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Website</a:t>
            </a:r>
            <a:r>
              <a:rPr lang="id-ID" sz="28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Berdasarkan Standar OWASP Top 10</a:t>
            </a:r>
            <a:endParaRPr lang="en-US" sz="2800" dirty="0"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581025" y="5140374"/>
            <a:ext cx="3876675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350" b="1" i="0" u="none" strike="noStrike" cap="none" dirty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Muhammad Fattah Ziidan 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4838700" y="5140374"/>
            <a:ext cx="3362325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id-ID" sz="1350" b="1" i="0" u="none" strike="noStrike" cap="none" dirty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lang="en-US" sz="1350" b="1" i="0" u="none" strike="noStrike" cap="none" dirty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M</a:t>
            </a:r>
            <a:r>
              <a:rPr lang="id-ID" sz="1350" b="1" i="0" u="none" strike="noStrike" cap="none" dirty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22081010149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290762"/>
            <a:ext cx="5229225" cy="343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290762"/>
            <a:ext cx="5229225" cy="343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23925" y="263366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923925" y="3395662"/>
            <a:ext cx="321540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Peningkatan Ancaman Siber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23925" y="3976687"/>
            <a:ext cx="454342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Jumlah serangan siber pada aplikasi web terus meningkat secara signifikan setiap tahunnya, menuntut mekanisme pertahanan yang lebih proaktif dan responsif.</a:t>
            </a:r>
            <a:endParaRPr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24650" y="263366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6724650" y="3395662"/>
            <a:ext cx="336042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Keterbatasan Analisis Manual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724650" y="3976687"/>
            <a:ext cx="454342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Pengujian penetrasi manual (pentesting) membutuhkan waktu yang lama dan sumber daya ahli yang mahal, sehingga sulit untuk diterapkan pada siklus pengembangan yang cepat.</a:t>
            </a:r>
            <a:endParaRPr/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57275" y="276701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858000" y="276701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Latar Belakang Penelitian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581025" y="125730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771525" y="771525"/>
            <a:ext cx="479059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Rumusan Masalah</a:t>
            </a:r>
            <a:endParaRPr/>
          </a:p>
        </p:txBody>
      </p:sp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9525"/>
            <a:ext cx="6086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771525" y="2109786"/>
            <a:ext cx="4479205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id-ID" sz="1500" b="0" i="0" u="none" strike="noStrike" cap="none" dirty="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1. </a:t>
            </a:r>
            <a:r>
              <a:rPr lang="en-US" sz="1500" b="0" i="0" u="none" strike="noStrike" cap="none" dirty="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False Positives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lang="id-ID" sz="1500" b="0" i="0" u="none" strike="noStrike" cap="none" dirty="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marR="0" lvl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Scanner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otomatis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seperti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OWASP ZAP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sering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menghasilkan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deteksi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positif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palsu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yang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tinggi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membingungkan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pengembang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15" name="Google Shape;115;p15"/>
          <p:cNvSpPr txBox="1"/>
          <p:nvPr/>
        </p:nvSpPr>
        <p:spPr>
          <a:xfrm>
            <a:off x="771525" y="3573033"/>
            <a:ext cx="4648887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2. </a:t>
            </a:r>
            <a:r>
              <a:rPr lang="en-US" sz="1500" b="0" i="0" u="none" strike="noStrike" cap="none" dirty="0" err="1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Kurangnya</a:t>
            </a:r>
            <a:r>
              <a:rPr lang="en-US" sz="1500" b="0" i="0" u="none" strike="noStrike" cap="none" dirty="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1500" b="0" i="0" u="none" strike="noStrike" cap="none" dirty="0" err="1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Konteks</a:t>
            </a:r>
            <a:endParaRPr lang="id-ID" sz="1500" dirty="0">
              <a:solidFill>
                <a:srgbClr val="38BDF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Laporan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scanner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tradisional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bersifat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teknis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dan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kaku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tanpa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penjelasan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kontekstual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mengenai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dampak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bisnis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16" name="Google Shape;116;p15"/>
          <p:cNvSpPr txBox="1"/>
          <p:nvPr/>
        </p:nvSpPr>
        <p:spPr>
          <a:xfrm>
            <a:off x="771525" y="5050361"/>
            <a:ext cx="4648887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3. </a:t>
            </a:r>
            <a:r>
              <a:rPr lang="en-US" sz="1500" b="0" i="0" u="none" strike="noStrike" cap="none" dirty="0" err="1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Efisiensi</a:t>
            </a:r>
            <a:r>
              <a:rPr lang="en-US" sz="1500" b="0" i="0" u="none" strike="noStrike" cap="none" dirty="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Waktu</a:t>
            </a:r>
            <a:endParaRPr lang="id-ID" sz="1500" dirty="0">
              <a:solidFill>
                <a:srgbClr val="38BDF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Memvalidasi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ratusan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temuan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scanner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secara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manual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menghambat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produktivitas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tim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keamanan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105025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581025" y="2419350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Menggabungkan keandalan scanning otomatis dengan kecerdasan analisis Generative AI.</a:t>
            </a:r>
            <a:endParaRPr/>
          </a:p>
        </p:txBody>
      </p:sp>
      <p:pic>
        <p:nvPicPr>
          <p:cNvPr id="124" name="Google Shape;12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114550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962025" y="3219450"/>
            <a:ext cx="4848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OWASP ZAP: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Bertugas sebagai "mata" untuk memindai kerentanan mentah pada target website.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914400" y="3971925"/>
            <a:ext cx="48958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Gemini AI: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Bertugas sebagai "otak" untuk memvalidasi temuan, membuang false positive, dan menyarankan perbaikan kode.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66775" y="5029200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Otomatisasi: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Pelaporan instan yang mudah dipahami (human-readable).</a:t>
            </a:r>
            <a:endParaRPr/>
          </a:p>
        </p:txBody>
      </p:sp>
      <p:pic>
        <p:nvPicPr>
          <p:cNvPr id="128" name="Google Shape;12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424237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3291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5233987"/>
            <a:ext cx="1428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Solusi: Integrasi Cerdas</a:t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581025" y="125730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290762"/>
            <a:ext cx="3486150" cy="343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290762"/>
            <a:ext cx="3486150" cy="343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290762"/>
            <a:ext cx="3486150" cy="343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3925" y="263366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923925" y="3395662"/>
            <a:ext cx="256532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Broken Access Control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923925" y="3976687"/>
            <a:ext cx="28003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Kerentanan nomor satu yang paling umum, di mana pengguna dapat mengakses data di luar izin mereka.</a:t>
            </a:r>
            <a:endParaRPr/>
          </a:p>
        </p:txBody>
      </p:sp>
      <p:pic>
        <p:nvPicPr>
          <p:cNvPr id="144" name="Google Shape;144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5825" y="263366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4695825" y="3395662"/>
            <a:ext cx="98512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Injection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4695825" y="3976687"/>
            <a:ext cx="28003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Termasuk SQL Injection dan XSS, di mana penyerang mengirimkan data berbahaya ke interpreter.</a:t>
            </a:r>
            <a:endParaRPr/>
          </a:p>
        </p:txBody>
      </p:sp>
      <p:pic>
        <p:nvPicPr>
          <p:cNvPr id="147" name="Google Shape;147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67725" y="263366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8467725" y="3395662"/>
            <a:ext cx="18052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Insecure Design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8467725" y="3976687"/>
            <a:ext cx="28003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Fokus pada risiko yang terkait dengan cacat desain dan arsitektur sebelum implementasi kode.</a:t>
            </a:r>
            <a:endParaRPr/>
          </a:p>
        </p:txBody>
      </p:sp>
      <p:pic>
        <p:nvPicPr>
          <p:cNvPr id="150" name="Google Shape;150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76325" y="2767012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829175" y="276701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601075" y="276701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 err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Fokus</a:t>
            </a:r>
            <a:r>
              <a:rPr lang="en-US" sz="3150" b="0" i="0" u="none" strike="noStrike" cap="none" dirty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OWASP Top 10</a:t>
            </a:r>
            <a:endParaRPr dirty="0"/>
          </a:p>
        </p:txBody>
      </p:sp>
      <p:sp>
        <p:nvSpPr>
          <p:cNvPr id="154" name="Google Shape;154;p17"/>
          <p:cNvSpPr/>
          <p:nvPr/>
        </p:nvSpPr>
        <p:spPr>
          <a:xfrm>
            <a:off x="581025" y="125730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55245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771525" y="771525"/>
            <a:ext cx="4790598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Arsitektur Sistem</a:t>
            </a:r>
            <a:endParaRPr/>
          </a:p>
        </p:txBody>
      </p:sp>
      <p:pic>
        <p:nvPicPr>
          <p:cNvPr id="161" name="Google Shape;16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771526" y="1419224"/>
            <a:ext cx="439436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Alur data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dirancang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untuk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efisiensi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dan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akurasi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tinggi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dirty="0"/>
          </a:p>
        </p:txBody>
      </p:sp>
      <p:sp>
        <p:nvSpPr>
          <p:cNvPr id="164" name="Google Shape;164;p18"/>
          <p:cNvSpPr txBox="1"/>
          <p:nvPr/>
        </p:nvSpPr>
        <p:spPr>
          <a:xfrm>
            <a:off x="1343025" y="2324100"/>
            <a:ext cx="39909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500" b="1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1. </a:t>
            </a:r>
            <a:r>
              <a:rPr lang="en-US" sz="1500" b="1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Target Input: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URL website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dimasukkan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ke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sistem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66" name="Google Shape;166;p18"/>
          <p:cNvSpPr txBox="1"/>
          <p:nvPr/>
        </p:nvSpPr>
        <p:spPr>
          <a:xfrm>
            <a:off x="1343025" y="3076575"/>
            <a:ext cx="39909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500" b="1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2. </a:t>
            </a:r>
            <a:r>
              <a:rPr lang="en-US" sz="1500" b="1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ZAP Scan: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Spidering dan Active Scanning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dijalankan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68" name="Google Shape;168;p18"/>
          <p:cNvSpPr txBox="1"/>
          <p:nvPr/>
        </p:nvSpPr>
        <p:spPr>
          <a:xfrm>
            <a:off x="1343025" y="3829050"/>
            <a:ext cx="39909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500" b="1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3. </a:t>
            </a:r>
            <a:r>
              <a:rPr lang="en-US" sz="1500" b="1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JSON Parsing: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Hasil scan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diekstrak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dalam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format JSON.</a:t>
            </a:r>
            <a:endParaRPr dirty="0"/>
          </a:p>
        </p:txBody>
      </p:sp>
      <p:sp>
        <p:nvSpPr>
          <p:cNvPr id="170" name="Google Shape;170;p18"/>
          <p:cNvSpPr txBox="1"/>
          <p:nvPr/>
        </p:nvSpPr>
        <p:spPr>
          <a:xfrm>
            <a:off x="1343025" y="4581525"/>
            <a:ext cx="399097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500" b="1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4. </a:t>
            </a:r>
            <a:r>
              <a:rPr lang="en-US" sz="1500" b="1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AI Processing: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Prompt engineering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digunakan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untuk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mengirim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data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ke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Gemini API.</a:t>
            </a:r>
            <a:endParaRPr dirty="0"/>
          </a:p>
        </p:txBody>
      </p:sp>
      <p:sp>
        <p:nvSpPr>
          <p:cNvPr id="172" name="Google Shape;172;p18"/>
          <p:cNvSpPr txBox="1"/>
          <p:nvPr/>
        </p:nvSpPr>
        <p:spPr>
          <a:xfrm>
            <a:off x="1343025" y="5638800"/>
            <a:ext cx="39909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19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500" b="1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5. </a:t>
            </a:r>
            <a:r>
              <a:rPr lang="en-US" sz="1500" b="1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Final Report: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Output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analisis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disajikan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ke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user.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56146" y="3356669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23916" y="3356669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91685" y="3356669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159454" y="3356669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/>
          <p:nvPr/>
        </p:nvSpPr>
        <p:spPr>
          <a:xfrm>
            <a:off x="581025" y="3594794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520362" y="4023419"/>
            <a:ext cx="254781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Studi Literatur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581025" y="4404419"/>
            <a:ext cx="2426493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Analisis OWASP Top 10 dan API ZAP.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3388131" y="4023419"/>
            <a:ext cx="254781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Pengembangan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3448794" y="4404419"/>
            <a:ext cx="2426493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Integrasi skrip Python dan Gemini API.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6255900" y="4023419"/>
            <a:ext cx="254781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Pengujian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6316563" y="4404419"/>
            <a:ext cx="2426493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Scanning pada lingkungan lab (DVWA).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9123670" y="4023419"/>
            <a:ext cx="254781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Evaluasi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9184332" y="4404419"/>
            <a:ext cx="2426493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Analisis akurasi dan performa sistem.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Metodologi Penelitian</a:t>
            </a:r>
            <a:endParaRPr/>
          </a:p>
        </p:txBody>
      </p:sp>
      <p:sp>
        <p:nvSpPr>
          <p:cNvPr id="192" name="Google Shape;192;p19"/>
          <p:cNvSpPr/>
          <p:nvPr/>
        </p:nvSpPr>
        <p:spPr>
          <a:xfrm>
            <a:off x="581025" y="125730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F172A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743075"/>
            <a:ext cx="11029950" cy="453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581025" y="2952750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Estimasi peningkatan efisiensi dibandingkan metode manual.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Target Luaran &amp; Perbandingan</a:t>
            </a: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581025" y="125730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2"/>
          <p:cNvSpPr txBox="1"/>
          <p:nvPr/>
        </p:nvSpPr>
        <p:spPr>
          <a:xfrm>
            <a:off x="305276" y="2331690"/>
            <a:ext cx="11581447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Terima Kasih</a:t>
            </a:r>
            <a:endParaRPr/>
          </a:p>
        </p:txBody>
      </p:sp>
      <p:sp>
        <p:nvSpPr>
          <p:cNvPr id="273" name="Google Shape;273;p22"/>
          <p:cNvSpPr txBox="1"/>
          <p:nvPr/>
        </p:nvSpPr>
        <p:spPr>
          <a:xfrm>
            <a:off x="581025" y="3484215"/>
            <a:ext cx="110299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Sesi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Tanya Jawab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379</Words>
  <Application>Microsoft Office PowerPoint</Application>
  <PresentationFormat>Widescreen</PresentationFormat>
  <Paragraphs>48</Paragraphs>
  <Slides>9</Slides>
  <Notes>9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Inter Medium</vt:lpstr>
      <vt:lpstr>Inter</vt:lpstr>
      <vt:lpstr>Inter SemiBold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Farid Kurniawan</cp:lastModifiedBy>
  <cp:revision>1</cp:revision>
  <dcterms:modified xsi:type="dcterms:W3CDTF">2025-12-14T15:21:09Z</dcterms:modified>
</cp:coreProperties>
</file>